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5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863840" cy="1645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oto Sans CJK KR"/>
              </a:rPr>
              <a:t>처음 보는 환경에서도
잘 걷는 Ant 만들기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926080"/>
            <a:ext cx="7772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0">
                <a:solidFill>
                  <a:srgbClr val="B9E6EB"/>
                </a:solidFill>
                <a:latin typeface="Noto Sans CJK KR"/>
              </a:rPr>
              <a:t>PPO domain randomization · 100-env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303520"/>
            <a:ext cx="6400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Noto Sans CJK KR"/>
              </a:rPr>
              <a:t>Robotics Simulation Week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715000"/>
            <a:ext cx="6400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BEC8D4"/>
                </a:solidFill>
                <a:latin typeface="Noto Sans CJK KR"/>
              </a:rPr>
              <a:t>TEAM MEMBERS: TBD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4754880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4200" b="1">
                <a:solidFill>
                  <a:srgbClr val="F5A623"/>
                </a:solidFill>
                <a:latin typeface="Noto Sans CJK KR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83552"/>
                </a:solidFill>
                <a:latin typeface="Noto Sans CJK KR"/>
              </a:rPr>
              <a:t>질문과 공정한 실험 설계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96012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713232"/>
            <a:ext cx="9601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6697C"/>
                </a:solidFill>
                <a:latin typeface="Noto Sans CJK KR"/>
              </a:rPr>
              <a:t>한 번의 최고 점수가 아니라 같은 budget의 일반화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607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83552"/>
                </a:solidFill>
                <a:latin typeface="Noto Sans CJK KR"/>
              </a:defRPr>
            </a:pPr>
            <a:r>
              <a:t>•  가설: 제한적 물리 랜덤화가 ID 성능을 크게 잃지 않고 OOD 생존성과 return을 높인다.</a:t>
            </a:r>
          </a:p>
          <a:p>
            <a:pPr>
              <a:spcAft>
                <a:spcPts val="1000"/>
              </a:spcAft>
              <a:defRPr sz="1900">
                <a:solidFill>
                  <a:srgbClr val="183552"/>
                </a:solidFill>
                <a:latin typeface="Noto Sans CJK KR"/>
              </a:defRPr>
            </a:pPr>
            <a:r>
              <a:t>•  통제: 60D observation, 8D action, PPO 구조, 4096 envs, 32 steps/env, 1000 iterations.</a:t>
            </a:r>
          </a:p>
          <a:p>
            <a:pPr>
              <a:spcAft>
                <a:spcPts val="1000"/>
              </a:spcAft>
              <a:defRPr sz="1900">
                <a:solidFill>
                  <a:srgbClr val="183552"/>
                </a:solidFill>
                <a:latin typeface="Noto Sans CJK KR"/>
              </a:defRPr>
            </a:pPr>
            <a:r>
              <a:t>•  반복: baseline/robust 각 3 seeds (42·43·44), evaluation은 seed 24의 100 envs.</a:t>
            </a:r>
          </a:p>
          <a:p>
            <a:pPr>
              <a:spcAft>
                <a:spcPts val="1000"/>
              </a:spcAft>
              <a:defRPr sz="1900">
                <a:solidFill>
                  <a:srgbClr val="183552"/>
                </a:solidFill>
                <a:latin typeface="Noto Sans CJK KR"/>
              </a:defRPr>
            </a:pPr>
            <a:r>
              <a:t>•  판정: low-friction·payload·push 중 둘 이상에서 개선되고 ID collapse가 없어야 한다.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43000" y="4800600"/>
          <a:ext cx="987552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132320"/>
              </a:tblGrid>
              <a:tr h="30861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Budget</a:t>
                      </a:r>
                    </a:p>
                  </a:txBody>
                  <a:tcPr>
                    <a:solidFill>
                      <a:srgbClr val="1835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83552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83552"/>
                          </a:solidFill>
                          <a:latin typeface="Noto Sans CJK KR"/>
                        </a:defRPr>
                      </a:pPr>
                      <a:r>
                        <a:t>Transitions/run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83552"/>
                          </a:solidFill>
                          <a:latin typeface="Noto Sans CJK KR"/>
                        </a:defRPr>
                      </a:pPr>
                      <a:r>
                        <a:t>1000 × 4096 × 32 = 131,072,000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83552"/>
                          </a:solidFill>
                          <a:latin typeface="Noto Sans CJK KR"/>
                        </a:defRPr>
                      </a:pPr>
                      <a:r>
                        <a:t>Checkpoint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83552"/>
                          </a:solidFill>
                          <a:latin typeface="Noto Sans CJK KR"/>
                        </a:defRPr>
                      </a:pPr>
                      <a:r>
                        <a:t>model_999.pt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83552"/>
                          </a:solidFill>
                          <a:latin typeface="Noto Sans CJK KR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83552"/>
                          </a:solidFill>
                          <a:latin typeface="Noto Sans CJK KR"/>
                        </a:defRPr>
                      </a:pPr>
                      <a:r>
                        <a:t>first-episode return mean ± population std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473952"/>
            <a:ext cx="45720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6697C"/>
                </a:solidFill>
                <a:latin typeface="Noto Sans CJK KR"/>
              </a:rPr>
              <a:t>Robotics Simulation · Week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411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56697C"/>
                </a:solidFill>
                <a:latin typeface="Noto Sans CJK K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83552"/>
                </a:solidFill>
                <a:latin typeface="Noto Sans CJK KR"/>
              </a:rPr>
              <a:t>무엇을 바꿨는가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96012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713232"/>
            <a:ext cx="9601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6697C"/>
                </a:solidFill>
                <a:latin typeface="Noto Sans CJK KR"/>
              </a:rPr>
              <a:t>interface는 그대로, training distribution만 확장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234440"/>
          <a:ext cx="1083564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577840"/>
                <a:gridCol w="3429000"/>
              </a:tblGrid>
              <a:tr h="56007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Variant</a:t>
                      </a:r>
                    </a:p>
                  </a:txBody>
                  <a:tcPr>
                    <a:solidFill>
                      <a:srgbClr val="1835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Training distribution</a:t>
                      </a:r>
                    </a:p>
                  </a:txBody>
                  <a:tcPr>
                    <a:solidFill>
                      <a:srgbClr val="1835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83552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83552"/>
                          </a:solidFill>
                          <a:latin typeface="Noto Sans CJK KR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83552"/>
                          </a:solidFill>
                          <a:latin typeface="Noto Sans CJK KR"/>
                        </a:defRPr>
                      </a:pPr>
                      <a:r>
                        <a:t>course Isaac-Ant-v0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83552"/>
                          </a:solidFill>
                          <a:latin typeface="Noto Sans CJK KR"/>
                        </a:defRPr>
                      </a:pPr>
                      <a:r>
                        <a:t>reference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83552"/>
                          </a:solidFill>
                          <a:latin typeface="Noto Sans CJK KR"/>
                        </a:defRPr>
                      </a:pPr>
                      <a:r>
                        <a:t>Friction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83552"/>
                          </a:solidFill>
                          <a:latin typeface="Noto Sans CJK KR"/>
                        </a:defRPr>
                      </a:pPr>
                      <a:r>
                        <a:t>μs 0.45–1.35, μd 0.35–1.15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83552"/>
                          </a:solidFill>
                          <a:latin typeface="Noto Sans CJK KR"/>
                        </a:defRPr>
                      </a:pPr>
                      <a:r>
                        <a:t>single-factor ablation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83552"/>
                          </a:solidFill>
                          <a:latin typeface="Noto Sans CJK KR"/>
                        </a:defRPr>
                      </a:pPr>
                      <a:r>
                        <a:t>Robust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83552"/>
                          </a:solidFill>
                          <a:latin typeface="Noto Sans CJK KR"/>
                        </a:defRPr>
                      </a:pPr>
                      <a:r>
                        <a:t>friction + mass/COM + reset + noise + push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83552"/>
                          </a:solidFill>
                          <a:latin typeface="Noto Sans CJK KR"/>
                        </a:defRPr>
                      </a:pPr>
                      <a:r>
                        <a:t>combined generalization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749039"/>
            <a:ext cx="3657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08A3B8"/>
                </a:solidFill>
                <a:latin typeface="Noto Sans CJK KR"/>
              </a:rPr>
              <a:t>Public holdouts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6675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83552"/>
                </a:solidFill>
                <a:latin typeface="Noto Sans CJK KR"/>
              </a:defRPr>
            </a:pPr>
            <a:r>
              <a:t>•  Low friction: 0.30 / 0.25 (training range 밖)</a:t>
            </a:r>
          </a:p>
          <a:p>
            <a:pPr>
              <a:spcAft>
                <a:spcPts val="1000"/>
              </a:spcAft>
              <a:defRPr sz="1800">
                <a:solidFill>
                  <a:srgbClr val="183552"/>
                </a:solidFill>
                <a:latin typeface="Noto Sans CJK KR"/>
              </a:defRPr>
            </a:pPr>
            <a:r>
              <a:t>•  Heavy: torso ×1.30 + off-center COM</a:t>
            </a:r>
          </a:p>
          <a:p>
            <a:pPr>
              <a:spcAft>
                <a:spcPts val="1000"/>
              </a:spcAft>
              <a:defRPr sz="1800">
                <a:solidFill>
                  <a:srgbClr val="183552"/>
                </a:solidFill>
                <a:latin typeface="Noto Sans CJK KR"/>
              </a:defRPr>
            </a:pPr>
            <a:r>
              <a:t>•  Push: ±0.80 m/s impulse every 3–5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297680"/>
            <a:ext cx="338328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183552"/>
                </a:solidFill>
                <a:latin typeface="Noto Sans CJK KR"/>
              </a:rPr>
              <a:t>Hidden test는 발표 당일 공개
→ public holdout은 대체 점수가 아니라 반증 도구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45720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6697C"/>
                </a:solidFill>
                <a:latin typeface="Noto Sans CJK KR"/>
              </a:rPr>
              <a:t>Robotics Simulation · Week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411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56697C"/>
                </a:solidFill>
                <a:latin typeface="Noto Sans CJK K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83552"/>
                </a:solidFill>
                <a:latin typeface="Noto Sans CJK KR"/>
              </a:rPr>
              <a:t>학습은 안정적으로 수렴했는가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96012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713232"/>
            <a:ext cx="9601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6697C"/>
                </a:solidFill>
                <a:latin typeface="Noto Sans CJK KR"/>
              </a:rPr>
              <a:t>TensorBoard Train/mean_reward · 25-iteration moving average</a:t>
            </a:r>
          </a:p>
        </p:txBody>
      </p:sp>
      <p:pic>
        <p:nvPicPr>
          <p:cNvPr id="5" name="Picture 4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143000"/>
            <a:ext cx="10058400" cy="5532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73952"/>
            <a:ext cx="45720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6697C"/>
                </a:solidFill>
                <a:latin typeface="Noto Sans CJK KR"/>
              </a:rPr>
              <a:t>Robotics Simulation · Week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411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56697C"/>
                </a:solidFill>
                <a:latin typeface="Noto Sans CJK K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83552"/>
                </a:solidFill>
                <a:latin typeface="Noto Sans CJK KR"/>
              </a:rPr>
              <a:t>100개 환경 정량 평가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96012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713232"/>
            <a:ext cx="9601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6697C"/>
                </a:solidFill>
                <a:latin typeface="Noto Sans CJK KR"/>
              </a:rPr>
              <a:t>각 vectorized env의 첫 episode만 누적</a:t>
            </a:r>
          </a:p>
        </p:txBody>
      </p:sp>
      <p:pic>
        <p:nvPicPr>
          <p:cNvPr id="5" name="Picture 4" descr="evaluation_retu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7315200" cy="40233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001000" y="1417320"/>
          <a:ext cx="3657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325880"/>
                <a:gridCol w="1325880"/>
              </a:tblGrid>
              <a:tr h="62179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835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1835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Robust</a:t>
                      </a:r>
                    </a:p>
                  </a:txBody>
                  <a:tcPr>
                    <a:solidFill>
                      <a:srgbClr val="18355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83552"/>
                          </a:solidFill>
                          <a:latin typeface="Noto Sans CJK KR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83552"/>
                          </a:solidFill>
                          <a:latin typeface="Noto Sans CJK KR"/>
                        </a:defRPr>
                      </a:pPr>
                      <a:r>
                        <a:t>139.4 ± 27.8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83552"/>
                          </a:solidFill>
                          <a:latin typeface="Noto Sans CJK KR"/>
                        </a:defRPr>
                      </a:pPr>
                      <a:r>
                        <a:t>144.4 ± 33.3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83552"/>
                          </a:solidFill>
                          <a:latin typeface="Noto Sans CJK KR"/>
                        </a:defRPr>
                      </a:pPr>
                      <a:r>
                        <a:t>Low 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83552"/>
                          </a:solidFill>
                          <a:latin typeface="Noto Sans CJK KR"/>
                        </a:defRPr>
                      </a:pPr>
                      <a:r>
                        <a:t>129.4 ± 26.0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83552"/>
                          </a:solidFill>
                          <a:latin typeface="Noto Sans CJK KR"/>
                        </a:defRPr>
                      </a:pPr>
                      <a:r>
                        <a:t>152.8 ± 30.7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83552"/>
                          </a:solidFill>
                          <a:latin typeface="Noto Sans CJK KR"/>
                        </a:defRPr>
                      </a:pPr>
                      <a:r>
                        <a:t>Heavy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83552"/>
                          </a:solidFill>
                          <a:latin typeface="Noto Sans CJK KR"/>
                        </a:defRPr>
                      </a:pPr>
                      <a:r>
                        <a:t>127.9 ± 32.2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83552"/>
                          </a:solidFill>
                          <a:latin typeface="Noto Sans CJK KR"/>
                        </a:defRPr>
                      </a:pPr>
                      <a:r>
                        <a:t>143.2 ± 31.9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83552"/>
                          </a:solidFill>
                          <a:latin typeface="Noto Sans CJK KR"/>
                        </a:defRPr>
                      </a:pPr>
                      <a:r>
                        <a:t>Push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83552"/>
                          </a:solidFill>
                          <a:latin typeface="Noto Sans CJK KR"/>
                        </a:defRPr>
                      </a:pPr>
                      <a:r>
                        <a:t>139.5 ± 25.7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83552"/>
                          </a:solidFill>
                          <a:latin typeface="Noto Sans CJK KR"/>
                        </a:defRPr>
                      </a:pPr>
                      <a:r>
                        <a:t>143.6 ± 33.0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92440" y="4709160"/>
            <a:ext cx="34747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56697C"/>
                </a:solidFill>
                <a:latin typeface="Noto Sans CJK KR"/>
              </a:rPr>
              <a:t>표의 ±는 100×seed pooled episode population std</a:t>
            </a:r>
          </a:p>
        </p:txBody>
      </p:sp>
      <p:pic>
        <p:nvPicPr>
          <p:cNvPr id="8" name="Picture 7" descr="comparison_low_friction_seed42_frame4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5230368"/>
            <a:ext cx="3291840" cy="10801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473952"/>
            <a:ext cx="45720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6697C"/>
                </a:solidFill>
                <a:latin typeface="Noto Sans CJK KR"/>
              </a:rPr>
              <a:t>Robotics Simulation · Week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411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56697C"/>
                </a:solidFill>
                <a:latin typeface="Noto Sans CJK K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83552"/>
                </a:solidFill>
                <a:latin typeface="Noto Sans CJK KR"/>
              </a:rPr>
              <a:t>결론 · 재현성 · 한계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96012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713232"/>
            <a:ext cx="9601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6697C"/>
                </a:solidFill>
                <a:latin typeface="Noto Sans CJK KR"/>
              </a:rPr>
              <a:t>높은 점수 하나보다 설계와 반증 가능성을 남긴다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83552"/>
                </a:solidFill>
                <a:latin typeface="Noto Sans CJK KR"/>
              </a:defRPr>
            </a:pPr>
            <a:r>
              <a:t>•  가설 지지: Robust는 ID +3.6%, 공개 OOD 평균 +10.8% (baseline 대비).</a:t>
            </a:r>
          </a:p>
          <a:p>
            <a:pPr>
              <a:spcAft>
                <a:spcPts val="1000"/>
              </a:spcAft>
              <a:defRPr sz="1900">
                <a:solidFill>
                  <a:srgbClr val="183552"/>
                </a:solidFill>
                <a:latin typeface="Noto Sans CJK KR"/>
              </a:defRPr>
            </a:pPr>
            <a:r>
              <a:t>•  README에 exact command, config, log, checkpoint SHA-256, 100-env JSON을 공개한다.</a:t>
            </a:r>
          </a:p>
          <a:p>
            <a:pPr>
              <a:spcAft>
                <a:spcPts val="1000"/>
              </a:spcAft>
              <a:defRPr sz="1900">
                <a:solidFill>
                  <a:srgbClr val="183552"/>
                </a:solidFill>
                <a:latin typeface="Noto Sans CJK KR"/>
              </a:defRPr>
            </a:pPr>
            <a:r>
              <a:t>•  영상: baseline과 robust를 같은 seed/holdout에서 비교한다.</a:t>
            </a:r>
          </a:p>
          <a:p>
            <a:pPr>
              <a:spcAft>
                <a:spcPts val="1000"/>
              </a:spcAft>
              <a:defRPr sz="1900">
                <a:solidFill>
                  <a:srgbClr val="183552"/>
                </a:solidFill>
                <a:latin typeface="Noto Sans CJK KR"/>
              </a:defRPr>
            </a:pPr>
            <a:r>
              <a:t>•  한계: hidden test 미사용, 3 seeds, terrain/latency shift는 미포함.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17720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8A3B8"/>
                </a:solidFill>
                <a:latin typeface="Noto Sans CJK KR"/>
              </a:rPr>
              <a:t>Evaluation command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83480"/>
            <a:ext cx="10424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183552"/>
                </a:solidFill>
                <a:latin typeface="Noto Sans CJK KR"/>
              </a:rPr>
              <a:t>./scripts/run_evaluate.sh --num_envs 100 --seed 24 --checkpoint 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4241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059669"/>
                </a:solidFill>
                <a:latin typeface="Noto Sans CJK KR"/>
              </a:rPr>
              <a:t>https://github.com/williewonker777/robotics-simulation-week03-ant-robust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45720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6697C"/>
                </a:solidFill>
                <a:latin typeface="Noto Sans CJK KR"/>
              </a:rPr>
              <a:t>Robotics Simulation · Week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411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56697C"/>
                </a:solidFill>
                <a:latin typeface="Noto Sans CJK KR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